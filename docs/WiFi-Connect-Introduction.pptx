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1d1b1bd-268c-8ae0-02df-1d02338c6ffe}">
          <p14:sldIdLst>
            <p14:sldId id="256"/>
            <p14:sldId id="257"/>
          </p14:sldIdLst>
        </p14:section>
        <p14:section name="The app" id="{77b952c6-cb40-4d4f-38af-eada94dcb25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latforms and privacy" id="{74dc8305-71b1-c4eb-767c-afc0a9a1f847}">
          <p14:sldIdLst>
            <p14:sldId id="264"/>
            <p14:sldId id="265"/>
            <p14:sldId id="266"/>
          </p14:sldIdLst>
        </p14:section>
        <p14:section name="Get started" id="{33857615-1c9b-7576-2240-1ccf59b4049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WiFi Connect signs students in to the campus Wi-Fi login page automatically, on iPhone, Android and Windows laptops.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4754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480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3E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Gre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y2005ov0/WifiConnect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UTAR CAMPUS WI-FI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WiFi Connect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</a:rPr>
              <a:t>One tap to sign in to utarwifi on iPhone, Android and Windows. No more typing your student ID at every login page.</a:t>
            </a:r>
            <a:endParaRPr lang="en-US" sz="1800" dirty="0"/>
          </a:p>
        </p:txBody>
      </p:sp>
      <p:sp>
        <p:nvSpPr>
          <p:cNvPr id="5" name="Welcome page frame"/>
          <p:cNvSpPr/>
          <p:nvPr/>
        </p:nvSpPr>
        <p:spPr>
          <a:xfrm>
            <a:off x="5477256" y="630936"/>
            <a:ext cx="1876173" cy="3950208"/>
          </a:xfrm>
          <a:prstGeom prst="roundRect">
            <a:avLst>
              <a:gd name="adj" fmla="val 1072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6" name="Welcome page" descr="Welcome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685800"/>
            <a:ext cx="1766445" cy="3840480"/>
          </a:xfrm>
          <a:prstGeom prst="rect">
            <a:avLst/>
          </a:prstGeom>
        </p:spPr>
      </p:pic>
      <p:sp>
        <p:nvSpPr>
          <p:cNvPr id="7" name="Connected page frame"/>
          <p:cNvSpPr/>
          <p:nvPr/>
        </p:nvSpPr>
        <p:spPr>
          <a:xfrm>
            <a:off x="7031736" y="448056"/>
            <a:ext cx="2002348" cy="4224528"/>
          </a:xfrm>
          <a:prstGeom prst="roundRect">
            <a:avLst>
              <a:gd name="adj" fmla="val 10047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8" name="Connected page" descr="Connected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502920"/>
            <a:ext cx="18926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Signing in to campus Wi-Fi is a daily chore</a:t>
            </a:r>
            <a:endParaRPr lang="en-US" sz="2800" dirty="0"/>
          </a:p>
        </p:txBody>
      </p:sp>
      <p:sp>
        <p:nvSpPr>
          <p:cNvPr id="3" name="Pain card 1"/>
          <p:cNvSpPr/>
          <p:nvPr/>
        </p:nvSpPr>
        <p:spPr>
          <a:xfrm>
            <a:off x="457200" y="1234440"/>
            <a:ext cx="2615184" cy="2514600"/>
          </a:xfrm>
          <a:prstGeom prst="roundRect">
            <a:avLst>
              <a:gd name="adj" fmla="val 5455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" name="Pain 1 circle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5" name="Pa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6166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login page every time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Join utarwifi and nothing loads until you find the login page and sign in again.</a:t>
            </a:r>
            <a:endParaRPr lang="en-US" sz="1300" dirty="0"/>
          </a:p>
        </p:txBody>
      </p:sp>
      <p:sp>
        <p:nvSpPr>
          <p:cNvPr id="8" name="Pain card 2"/>
          <p:cNvSpPr/>
          <p:nvPr/>
        </p:nvSpPr>
        <p:spPr>
          <a:xfrm>
            <a:off x="3264408" y="1234440"/>
            <a:ext cx="2615184" cy="2514600"/>
          </a:xfrm>
          <a:prstGeom prst="roundRect">
            <a:avLst>
              <a:gd name="adj" fmla="val 5455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9" name="Pain 2 circle"/>
          <p:cNvSpPr/>
          <p:nvPr/>
        </p:nvSpPr>
        <p:spPr>
          <a:xfrm>
            <a:off x="3538728" y="1463040"/>
            <a:ext cx="640080" cy="6400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10" name="Pa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347" y="16166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different address in every block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2788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Each building's login page sits at its own address, so bookmarks and saved forms break.</a:t>
            </a:r>
            <a:endParaRPr lang="en-US" sz="1300" dirty="0"/>
          </a:p>
        </p:txBody>
      </p:sp>
      <p:sp>
        <p:nvSpPr>
          <p:cNvPr id="13" name="Pain card 3"/>
          <p:cNvSpPr/>
          <p:nvPr/>
        </p:nvSpPr>
        <p:spPr>
          <a:xfrm>
            <a:off x="6071616" y="1234440"/>
            <a:ext cx="2615184" cy="2514600"/>
          </a:xfrm>
          <a:prstGeom prst="roundRect">
            <a:avLst>
              <a:gd name="adj" fmla="val 5455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4" name="Pain 3 circle"/>
          <p:cNvSpPr/>
          <p:nvPr/>
        </p:nvSpPr>
        <p:spPr>
          <a:xfrm>
            <a:off x="6345936" y="1463040"/>
            <a:ext cx="640080" cy="64008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pic>
        <p:nvPicPr>
          <p:cNvPr id="15" name="Pa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16166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Typing on a small screen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45936" y="27889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Student ID and password, over and over, on your phone and your laptop.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WiFi Connect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does all of it for you: open the app, tap the circle, and you're online.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tap, four steps behind the scenes</a:t>
            </a:r>
            <a:endParaRPr lang="en-US" sz="2800" dirty="0"/>
          </a:p>
        </p:txBody>
      </p:sp>
      <p:sp>
        <p:nvSpPr>
          <p:cNvPr id="3" name="Step 1 circle"/>
          <p:cNvSpPr/>
          <p:nvPr/>
        </p:nvSpPr>
        <p:spPr>
          <a:xfrm>
            <a:off x="960120" y="1325880"/>
            <a:ext cx="822960" cy="82296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4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152339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234440"/>
            <a:ext cx="292608" cy="292608"/>
          </a:xfrm>
          <a:prstGeom prst="ellipse">
            <a:avLst/>
          </a:prstGeom>
          <a:solidFill>
            <a:srgbClr val="0B1B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Join utarwifi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Connect to the campus Wi-Fi as usual.</a:t>
            </a:r>
            <a:endParaRPr lang="en-US" sz="1300" dirty="0"/>
          </a:p>
        </p:txBody>
      </p:sp>
      <p:sp>
        <p:nvSpPr>
          <p:cNvPr id="8" name="Arrow 1"/>
          <p:cNvSpPr/>
          <p:nvPr/>
        </p:nvSpPr>
        <p:spPr>
          <a:xfrm>
            <a:off x="1920240" y="1737360"/>
            <a:ext cx="502920" cy="0"/>
          </a:xfrm>
          <a:prstGeom prst="line">
            <a:avLst/>
          </a:prstGeom>
          <a:noFill/>
          <a:ln w="2540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9" name="Step 2 circle"/>
          <p:cNvSpPr/>
          <p:nvPr/>
        </p:nvSpPr>
        <p:spPr>
          <a:xfrm>
            <a:off x="3063240" y="1325880"/>
            <a:ext cx="822960" cy="82296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pic>
        <p:nvPicPr>
          <p:cNvPr id="10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750" y="152339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03320" y="1234440"/>
            <a:ext cx="292608" cy="292608"/>
          </a:xfrm>
          <a:prstGeom prst="ellipse">
            <a:avLst/>
          </a:prstGeom>
          <a:solidFill>
            <a:srgbClr val="0B1B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the login page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The app follows the redirect to this building's own login page.</a:t>
            </a:r>
            <a:endParaRPr lang="en-US" sz="1300" dirty="0"/>
          </a:p>
        </p:txBody>
      </p:sp>
      <p:sp>
        <p:nvSpPr>
          <p:cNvPr id="14" name="Arrow 2"/>
          <p:cNvSpPr/>
          <p:nvPr/>
        </p:nvSpPr>
        <p:spPr>
          <a:xfrm>
            <a:off x="4023360" y="1737360"/>
            <a:ext cx="502920" cy="0"/>
          </a:xfrm>
          <a:prstGeom prst="line">
            <a:avLst/>
          </a:prstGeom>
          <a:noFill/>
          <a:ln w="2540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15" name="Step 3 circle"/>
          <p:cNvSpPr/>
          <p:nvPr/>
        </p:nvSpPr>
        <p:spPr>
          <a:xfrm>
            <a:off x="5166360" y="1325880"/>
            <a:ext cx="822960" cy="82296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16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70" y="15233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06440" y="1234440"/>
            <a:ext cx="292608" cy="292608"/>
          </a:xfrm>
          <a:prstGeom prst="ellipse">
            <a:avLst/>
          </a:prstGeom>
          <a:solidFill>
            <a:srgbClr val="0B1B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Fill it in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66344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Student ID, password and any hidden fields the page needs.</a:t>
            </a:r>
            <a:endParaRPr lang="en-US" sz="1300" dirty="0"/>
          </a:p>
        </p:txBody>
      </p:sp>
      <p:sp>
        <p:nvSpPr>
          <p:cNvPr id="20" name="Arrow 3"/>
          <p:cNvSpPr/>
          <p:nvPr/>
        </p:nvSpPr>
        <p:spPr>
          <a:xfrm>
            <a:off x="6126480" y="1737360"/>
            <a:ext cx="502920" cy="0"/>
          </a:xfrm>
          <a:prstGeom prst="line">
            <a:avLst/>
          </a:prstGeom>
          <a:noFill/>
          <a:ln w="25400">
            <a:solidFill>
              <a:srgbClr val="AEAEB2"/>
            </a:solidFill>
            <a:prstDash val="solid"/>
            <a:tailEnd type="triangle"/>
          </a:ln>
        </p:spPr>
      </p:sp>
      <p:sp>
        <p:nvSpPr>
          <p:cNvPr id="21" name="Step 4 circle"/>
          <p:cNvSpPr/>
          <p:nvPr/>
        </p:nvSpPr>
        <p:spPr>
          <a:xfrm>
            <a:off x="7269480" y="1325880"/>
            <a:ext cx="822960" cy="82296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pic>
        <p:nvPicPr>
          <p:cNvPr id="22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990" y="152339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909560" y="1234440"/>
            <a:ext cx="292608" cy="292608"/>
          </a:xfrm>
          <a:prstGeom prst="ellipse">
            <a:avLst/>
          </a:prstGeom>
          <a:solidFill>
            <a:srgbClr val="0B1B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76656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you're online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766560" y="2697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It confirms the internet works, then turns the circle green.</a:t>
            </a:r>
            <a:endParaRPr lang="en-US" sz="1300" dirty="0"/>
          </a:p>
        </p:txBody>
      </p:sp>
      <p:sp>
        <p:nvSpPr>
          <p:cNvPr id="26" name="Note card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Works with login pages that redirect, use hidden security tokens, "I agree" boxes, drop-down menus or a separate login server.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One circle: blue to connect, green when online</a:t>
            </a:r>
            <a:endParaRPr lang="en-US" sz="2800" dirty="0"/>
          </a:p>
        </p:txBody>
      </p:sp>
      <p:sp>
        <p:nvSpPr>
          <p:cNvPr id="3" name="Swipe up to start frame"/>
          <p:cNvSpPr/>
          <p:nvPr/>
        </p:nvSpPr>
        <p:spPr>
          <a:xfrm>
            <a:off x="813816" y="1088136"/>
            <a:ext cx="1602795" cy="3355848"/>
          </a:xfrm>
          <a:prstGeom prst="roundRect">
            <a:avLst>
              <a:gd name="adj" fmla="val 12551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4" name="Swipe up to start" descr="Swipe up to st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1493067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526280"/>
            <a:ext cx="18588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Swipe up to start</a:t>
            </a:r>
            <a:endParaRPr lang="en-US" sz="1200" dirty="0"/>
          </a:p>
        </p:txBody>
      </p:sp>
      <p:sp>
        <p:nvSpPr>
          <p:cNvPr id="6" name="Tap to Connect frame"/>
          <p:cNvSpPr/>
          <p:nvPr/>
        </p:nvSpPr>
        <p:spPr>
          <a:xfrm>
            <a:off x="2825496" y="1088136"/>
            <a:ext cx="1602795" cy="3355848"/>
          </a:xfrm>
          <a:prstGeom prst="roundRect">
            <a:avLst>
              <a:gd name="adj" fmla="val 12551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7" name="Tap to Connect" descr="Tap to Conn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143000"/>
            <a:ext cx="1493067" cy="3246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97480" y="4526280"/>
            <a:ext cx="18588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Tap to Connect</a:t>
            </a:r>
            <a:endParaRPr lang="en-US" sz="1200" dirty="0"/>
          </a:p>
        </p:txBody>
      </p:sp>
      <p:sp>
        <p:nvSpPr>
          <p:cNvPr id="9" name="Connected frame"/>
          <p:cNvSpPr/>
          <p:nvPr/>
        </p:nvSpPr>
        <p:spPr>
          <a:xfrm>
            <a:off x="4837176" y="1088136"/>
            <a:ext cx="1602795" cy="3355848"/>
          </a:xfrm>
          <a:prstGeom prst="roundRect">
            <a:avLst>
              <a:gd name="adj" fmla="val 12551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10" name="Connected" descr="Connect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143000"/>
            <a:ext cx="1493067" cy="3246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09160" y="4526280"/>
            <a:ext cx="18588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Connected</a:t>
            </a:r>
            <a:endParaRPr lang="en-US" sz="1200" dirty="0"/>
          </a:p>
        </p:txBody>
      </p:sp>
      <p:sp>
        <p:nvSpPr>
          <p:cNvPr id="12" name="Dark Mode frame"/>
          <p:cNvSpPr/>
          <p:nvPr/>
        </p:nvSpPr>
        <p:spPr>
          <a:xfrm>
            <a:off x="6848856" y="1088136"/>
            <a:ext cx="1602795" cy="3355848"/>
          </a:xfrm>
          <a:prstGeom prst="roundRect">
            <a:avLst>
              <a:gd name="adj" fmla="val 12551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13" name="Dark Mode" descr="Dark M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143000"/>
            <a:ext cx="1493067" cy="32461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720840" y="4526280"/>
            <a:ext cx="18588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Dark Mode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Built for everyday campus life</a:t>
            </a:r>
            <a:endParaRPr lang="en-US" sz="28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188720"/>
            <a:ext cx="2615184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Feature 1 circle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5380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Automatic sign-in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Android signs in by itself when you join utarwifi; iPhone uses a one-time Shortcuts automation.</a:t>
            </a:r>
            <a:endParaRPr lang="en-US" sz="1200" dirty="0"/>
          </a:p>
        </p:txBody>
      </p:sp>
      <p:sp>
        <p:nvSpPr>
          <p:cNvPr id="8" name="Feature card 2"/>
          <p:cNvSpPr/>
          <p:nvPr/>
        </p:nvSpPr>
        <p:spPr>
          <a:xfrm>
            <a:off x="3264408" y="1188720"/>
            <a:ext cx="2615184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Feature 2 circle"/>
          <p:cNvSpPr/>
          <p:nvPr/>
        </p:nvSpPr>
        <p:spPr>
          <a:xfrm>
            <a:off x="3493008" y="1417320"/>
            <a:ext cx="502920" cy="50292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709" y="15380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33088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building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Finds each block's login page, wherever it is.</a:t>
            </a:r>
            <a:endParaRPr lang="en-US" sz="1200" dirty="0"/>
          </a:p>
        </p:txBody>
      </p:sp>
      <p:sp>
        <p:nvSpPr>
          <p:cNvPr id="13" name="Feature card 3"/>
          <p:cNvSpPr/>
          <p:nvPr/>
        </p:nvSpPr>
        <p:spPr>
          <a:xfrm>
            <a:off x="6071616" y="1188720"/>
            <a:ext cx="2615184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Feature 3 circle"/>
          <p:cNvSpPr/>
          <p:nvPr/>
        </p:nvSpPr>
        <p:spPr>
          <a:xfrm>
            <a:off x="6300216" y="1417320"/>
            <a:ext cx="502920" cy="50292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917" y="153802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0296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Speed test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Live gauge with ping, jitter, download and upload.</a:t>
            </a:r>
            <a:endParaRPr lang="en-US" sz="1200" dirty="0"/>
          </a:p>
        </p:txBody>
      </p:sp>
      <p:sp>
        <p:nvSpPr>
          <p:cNvPr id="18" name="Feature card 4"/>
          <p:cNvSpPr/>
          <p:nvPr/>
        </p:nvSpPr>
        <p:spPr>
          <a:xfrm>
            <a:off x="457200" y="2926080"/>
            <a:ext cx="2615184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Feature 4 circle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327538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154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Widgets and quick buttons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Home Screen widget, Control Center button, Quick Settings tile.</a:t>
            </a:r>
            <a:endParaRPr lang="en-US" sz="1200" dirty="0"/>
          </a:p>
        </p:txBody>
      </p:sp>
      <p:sp>
        <p:nvSpPr>
          <p:cNvPr id="23" name="Feature card 5"/>
          <p:cNvSpPr/>
          <p:nvPr/>
        </p:nvSpPr>
        <p:spPr>
          <a:xfrm>
            <a:off x="3264408" y="2926080"/>
            <a:ext cx="2615184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Feature 5 circle"/>
          <p:cNvSpPr/>
          <p:nvPr/>
        </p:nvSpPr>
        <p:spPr>
          <a:xfrm>
            <a:off x="3493008" y="3154680"/>
            <a:ext cx="502920" cy="50292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3709" y="327538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33088" y="3154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Five languages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93008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English, Bahasa Melayu, Chinese, Japanese and Tamil.</a:t>
            </a:r>
            <a:endParaRPr lang="en-US" sz="1200" dirty="0"/>
          </a:p>
        </p:txBody>
      </p:sp>
      <p:sp>
        <p:nvSpPr>
          <p:cNvPr id="28" name="Feature card 6"/>
          <p:cNvSpPr/>
          <p:nvPr/>
        </p:nvSpPr>
        <p:spPr>
          <a:xfrm>
            <a:off x="6071616" y="2926080"/>
            <a:ext cx="2615184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Feature 6 circle"/>
          <p:cNvSpPr/>
          <p:nvPr/>
        </p:nvSpPr>
        <p:spPr>
          <a:xfrm>
            <a:off x="6300216" y="3154680"/>
            <a:ext cx="502920" cy="502920"/>
          </a:xfrm>
          <a:prstGeom prst="ellipse">
            <a:avLst/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917" y="327538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0296" y="3154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Share with classmates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300216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A QR code with the setup, never the password.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Check the connection, and see every sign-in</a:t>
            </a:r>
            <a:endParaRPr lang="en-US" sz="2800" dirty="0"/>
          </a:p>
        </p:txBody>
      </p:sp>
      <p:sp>
        <p:nvSpPr>
          <p:cNvPr id="3" name="Speed test circle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4" name="Speed tes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4" y="136611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Speed test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536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Test the campus Wi-Fi from the main page: ping, jitter, download and upload.</a:t>
            </a:r>
            <a:endParaRPr lang="en-US" sz="1300" dirty="0"/>
          </a:p>
        </p:txBody>
      </p:sp>
      <p:sp>
        <p:nvSpPr>
          <p:cNvPr id="7" name="Sign-in history circle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pic>
        <p:nvPicPr>
          <p:cNvPr id="8" name="Sign-in histor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4" y="246339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Sign-in history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6334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Every sign-in and sign-out, with Copy Diagnostics if something goes wrong.</a:t>
            </a:r>
            <a:endParaRPr lang="en-US" sz="1300" dirty="0"/>
          </a:p>
        </p:txBody>
      </p:sp>
      <p:sp>
        <p:nvSpPr>
          <p:cNvPr id="11" name="Connected notification circle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pic>
        <p:nvPicPr>
          <p:cNvPr id="12" name="Connected notifica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4" y="35606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410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Connected notification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730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</a:rPr>
              <a:t>"Connected to utarwifi" when the app signs you in on arrival.</a:t>
            </a:r>
            <a:endParaRPr lang="en-US" sz="1300" dirty="0"/>
          </a:p>
        </p:txBody>
      </p:sp>
      <p:sp>
        <p:nvSpPr>
          <p:cNvPr id="15" name="Speed test frame"/>
          <p:cNvSpPr/>
          <p:nvPr/>
        </p:nvSpPr>
        <p:spPr>
          <a:xfrm>
            <a:off x="4837176" y="1042416"/>
            <a:ext cx="1728969" cy="3630168"/>
          </a:xfrm>
          <a:prstGeom prst="roundRect">
            <a:avLst>
              <a:gd name="adj" fmla="val 1163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16" name="Speed test" descr="Speed te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97280"/>
            <a:ext cx="1619241" cy="3520440"/>
          </a:xfrm>
          <a:prstGeom prst="rect">
            <a:avLst/>
          </a:prstGeom>
        </p:spPr>
      </p:pic>
      <p:sp>
        <p:nvSpPr>
          <p:cNvPr id="17" name="Sign-in history frame"/>
          <p:cNvSpPr/>
          <p:nvPr/>
        </p:nvSpPr>
        <p:spPr>
          <a:xfrm>
            <a:off x="6757416" y="1042416"/>
            <a:ext cx="1728969" cy="3630168"/>
          </a:xfrm>
          <a:prstGeom prst="roundRect">
            <a:avLst>
              <a:gd name="adj" fmla="val 1163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18" name="Sign-in history" descr="Sign-in histo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097280"/>
            <a:ext cx="1619241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Help is one tap away</a:t>
            </a:r>
            <a:endParaRPr lang="en-US" sz="2800" dirty="0"/>
          </a:p>
        </p:txBody>
      </p:sp>
      <p:sp>
        <p:nvSpPr>
          <p:cNvPr id="3" name="The ? button circle"/>
          <p:cNvSpPr/>
          <p:nvPr/>
        </p:nvSpPr>
        <p:spPr>
          <a:xfrm>
            <a:off x="457200" y="1161288"/>
            <a:ext cx="502920" cy="50292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4" name="The ? butt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281989"/>
            <a:ext cx="261518" cy="2615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247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? button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17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Top left of the main page, on iPhone and Android.</a:t>
            </a:r>
            <a:endParaRPr lang="en-US" sz="1200" dirty="0"/>
          </a:p>
        </p:txBody>
      </p:sp>
      <p:sp>
        <p:nvSpPr>
          <p:cNvPr id="7" name="One step at a time circle"/>
          <p:cNvSpPr/>
          <p:nvPr/>
        </p:nvSpPr>
        <p:spPr>
          <a:xfrm>
            <a:off x="457200" y="2029968"/>
            <a:ext cx="502920" cy="502920"/>
          </a:xfrm>
          <a:prstGeom prst="ellipse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pic>
        <p:nvPicPr>
          <p:cNvPr id="8" name="One step at a tim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2150669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99339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One step at a time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2860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Six steps with Next and Back: add your ID, join the Wi-Fi, tap, and what to do if it goes wrong.</a:t>
            </a:r>
            <a:endParaRPr lang="en-US" sz="1200" dirty="0"/>
          </a:p>
        </p:txBody>
      </p:sp>
      <p:sp>
        <p:nvSpPr>
          <p:cNvPr id="11" name="Takes you there circle"/>
          <p:cNvSpPr/>
          <p:nvPr/>
        </p:nvSpPr>
        <p:spPr>
          <a:xfrm>
            <a:off x="457200" y="2898648"/>
            <a:ext cx="502920" cy="50292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pic>
        <p:nvPicPr>
          <p:cNvPr id="12" name="Takes you ther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3019349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8620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Takes you there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1546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Buttons open Settings, Wi-Fi settings or the auto sign-in guide, and finished steps get a tick.</a:t>
            </a:r>
            <a:endParaRPr lang="en-US" sz="1200" dirty="0"/>
          </a:p>
        </p:txBody>
      </p:sp>
      <p:sp>
        <p:nvSpPr>
          <p:cNvPr id="15" name="Welcome page, your choice circle"/>
          <p:cNvSpPr/>
          <p:nvPr/>
        </p:nvSpPr>
        <p:spPr>
          <a:xfrm>
            <a:off x="457200" y="3767328"/>
            <a:ext cx="502920" cy="50292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pic>
        <p:nvPicPr>
          <p:cNvPr id="16" name="Welcome page, your choic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3888029"/>
            <a:ext cx="261518" cy="26151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73075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Welcome page, your choice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Turn the clock page off in Settings to open straight to the Wi-Fi circle.</a:t>
            </a:r>
            <a:endParaRPr lang="en-US" sz="1200" dirty="0"/>
          </a:p>
        </p:txBody>
      </p:sp>
      <p:sp>
        <p:nvSpPr>
          <p:cNvPr id="19" name="How to Use on iPhone frame"/>
          <p:cNvSpPr/>
          <p:nvPr/>
        </p:nvSpPr>
        <p:spPr>
          <a:xfrm>
            <a:off x="4837176" y="1042416"/>
            <a:ext cx="1728969" cy="3630168"/>
          </a:xfrm>
          <a:prstGeom prst="roundRect">
            <a:avLst>
              <a:gd name="adj" fmla="val 11635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20" name="How to Use on iPhone" descr="How to Use on iPh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097280"/>
            <a:ext cx="1619241" cy="3520440"/>
          </a:xfrm>
          <a:prstGeom prst="rect">
            <a:avLst/>
          </a:prstGeom>
        </p:spPr>
      </p:pic>
      <p:sp>
        <p:nvSpPr>
          <p:cNvPr id="21" name="How to Use on Android frame"/>
          <p:cNvSpPr/>
          <p:nvPr/>
        </p:nvSpPr>
        <p:spPr>
          <a:xfrm>
            <a:off x="6848856" y="1042416"/>
            <a:ext cx="1693926" cy="3630168"/>
          </a:xfrm>
          <a:prstGeom prst="roundRect">
            <a:avLst>
              <a:gd name="adj" fmla="val 11876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22" name="How to Use on Android" descr="How to Use on Androi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097280"/>
            <a:ext cx="1584198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Speaks five languages</a:t>
            </a:r>
            <a:endParaRPr lang="en-US" sz="2800" dirty="0"/>
          </a:p>
        </p:txBody>
      </p:sp>
      <p:sp>
        <p:nvSpPr>
          <p:cNvPr id="3" name="English frame"/>
          <p:cNvSpPr/>
          <p:nvPr/>
        </p:nvSpPr>
        <p:spPr>
          <a:xfrm>
            <a:off x="630936" y="1088136"/>
            <a:ext cx="1497649" cy="3127248"/>
          </a:xfrm>
          <a:prstGeom prst="roundRect">
            <a:avLst>
              <a:gd name="adj" fmla="val 1343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4" name="English" descr="Engl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1387921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4297680"/>
            <a:ext cx="19365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English</a:t>
            </a:r>
            <a:endParaRPr lang="en-US" sz="1200" dirty="0"/>
          </a:p>
        </p:txBody>
      </p:sp>
      <p:sp>
        <p:nvSpPr>
          <p:cNvPr id="6" name="Bahasa Melayu frame"/>
          <p:cNvSpPr/>
          <p:nvPr/>
        </p:nvSpPr>
        <p:spPr>
          <a:xfrm>
            <a:off x="2231136" y="1088136"/>
            <a:ext cx="1497649" cy="3127248"/>
          </a:xfrm>
          <a:prstGeom prst="roundRect">
            <a:avLst>
              <a:gd name="adj" fmla="val 1343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7" name="Bahasa Melayu" descr="Bahasa Melay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43000"/>
            <a:ext cx="1387921" cy="3017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11680" y="4297680"/>
            <a:ext cx="19365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Bahasa Melayu</a:t>
            </a:r>
            <a:endParaRPr lang="en-US" sz="1200" dirty="0"/>
          </a:p>
        </p:txBody>
      </p:sp>
      <p:sp>
        <p:nvSpPr>
          <p:cNvPr id="9" name="简体中文 frame"/>
          <p:cNvSpPr/>
          <p:nvPr/>
        </p:nvSpPr>
        <p:spPr>
          <a:xfrm>
            <a:off x="3831336" y="1088136"/>
            <a:ext cx="1497649" cy="3127248"/>
          </a:xfrm>
          <a:prstGeom prst="roundRect">
            <a:avLst>
              <a:gd name="adj" fmla="val 1343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10" name="简体中文" descr="简体中文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43000"/>
            <a:ext cx="1387921" cy="3017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611880" y="4297680"/>
            <a:ext cx="19365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简体中文</a:t>
            </a:r>
            <a:endParaRPr lang="en-US" sz="1200" dirty="0"/>
          </a:p>
        </p:txBody>
      </p:sp>
      <p:sp>
        <p:nvSpPr>
          <p:cNvPr id="12" name="日本語 frame"/>
          <p:cNvSpPr/>
          <p:nvPr/>
        </p:nvSpPr>
        <p:spPr>
          <a:xfrm>
            <a:off x="5431536" y="1088136"/>
            <a:ext cx="1497649" cy="3127248"/>
          </a:xfrm>
          <a:prstGeom prst="roundRect">
            <a:avLst>
              <a:gd name="adj" fmla="val 1343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13" name="日本語" descr="日本語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143000"/>
            <a:ext cx="1387921" cy="30175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12080" y="4297680"/>
            <a:ext cx="19365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日本語</a:t>
            </a:r>
            <a:endParaRPr lang="en-US" sz="1200" dirty="0"/>
          </a:p>
        </p:txBody>
      </p:sp>
      <p:sp>
        <p:nvSpPr>
          <p:cNvPr id="15" name="தமிழ் frame"/>
          <p:cNvSpPr/>
          <p:nvPr/>
        </p:nvSpPr>
        <p:spPr>
          <a:xfrm>
            <a:off x="7031736" y="1088136"/>
            <a:ext cx="1497649" cy="3127248"/>
          </a:xfrm>
          <a:prstGeom prst="roundRect">
            <a:avLst>
              <a:gd name="adj" fmla="val 1343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16" name="தமிழ்" descr="தமிழ்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143000"/>
            <a:ext cx="1387921" cy="30175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812280" y="4297680"/>
            <a:ext cx="19365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தமிழ்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4572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</a:rPr>
              <a:t>Change it in Settings › Language, or let it follow the phone.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iPhone, Android and your Windows laptop</a:t>
            </a:r>
            <a:endParaRPr lang="en-US" sz="2800" dirty="0"/>
          </a:p>
        </p:txBody>
      </p:sp>
      <p:sp>
        <p:nvSpPr>
          <p:cNvPr id="3" name="iPhone card"/>
          <p:cNvSpPr/>
          <p:nvPr/>
        </p:nvSpPr>
        <p:spPr>
          <a:xfrm>
            <a:off x="457200" y="1188720"/>
            <a:ext cx="2615184" cy="3246120"/>
          </a:xfrm>
          <a:prstGeom prst="roundRect">
            <a:avLst>
              <a:gd name="adj" fmla="val 5245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" name="iPhone circle"/>
          <p:cNvSpPr/>
          <p:nvPr/>
        </p:nvSpPr>
        <p:spPr>
          <a:xfrm>
            <a:off x="731520" y="1417320"/>
            <a:ext cx="640080" cy="64008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pic>
        <p:nvPicPr>
          <p:cNvPr id="5" name="iPh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5709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iPhone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</a:rPr>
              <a:t>iOS 17 or later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</a:rPr>
              <a:t>No Mac needed: Sideloadly or AltStore on Windows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</a:rPr>
              <a:t>Widget, Control Center button, Face ID lock</a:t>
            </a:r>
            <a:endParaRPr lang="en-US" sz="1300" dirty="0"/>
          </a:p>
        </p:txBody>
      </p:sp>
      <p:sp>
        <p:nvSpPr>
          <p:cNvPr id="8" name="Android card"/>
          <p:cNvSpPr/>
          <p:nvPr/>
        </p:nvSpPr>
        <p:spPr>
          <a:xfrm>
            <a:off x="3264408" y="1188720"/>
            <a:ext cx="2615184" cy="3246120"/>
          </a:xfrm>
          <a:prstGeom prst="roundRect">
            <a:avLst>
              <a:gd name="adj" fmla="val 5245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9" name="Android circle"/>
          <p:cNvSpPr/>
          <p:nvPr/>
        </p:nvSpPr>
        <p:spPr>
          <a:xfrm>
            <a:off x="3538728" y="1417320"/>
            <a:ext cx="640080" cy="640080"/>
          </a:xfrm>
          <a:prstGeom prst="ellipse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pic>
        <p:nvPicPr>
          <p:cNvPr id="10" name="Androi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347" y="15709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Android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</a:rPr>
              <a:t>Android 9 or later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</a:rPr>
              <a:t>Install the APK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</a:rPr>
              <a:t>Signs in by itself, Quick Settings tile, widget</a:t>
            </a:r>
            <a:endParaRPr lang="en-US" sz="1300" dirty="0"/>
          </a:p>
        </p:txBody>
      </p:sp>
      <p:sp>
        <p:nvSpPr>
          <p:cNvPr id="13" name="Windows laptop card"/>
          <p:cNvSpPr/>
          <p:nvPr/>
        </p:nvSpPr>
        <p:spPr>
          <a:xfrm>
            <a:off x="6071616" y="1188720"/>
            <a:ext cx="2615184" cy="3246120"/>
          </a:xfrm>
          <a:prstGeom prst="roundRect">
            <a:avLst>
              <a:gd name="adj" fmla="val 5245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4" name="Windows laptop circle"/>
          <p:cNvSpPr/>
          <p:nvPr/>
        </p:nvSpPr>
        <p:spPr>
          <a:xfrm>
            <a:off x="6345936" y="1417320"/>
            <a:ext cx="640080" cy="64008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15" name="Windows laptop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555" y="15709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Windows laptop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45936" y="26517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</a:rPr>
              <a:t>Double-click Install.cmd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</a:rPr>
              <a:t>Signs in when you join Wi-Fi and every 15 minutes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3A3C"/>
                </a:solidFill>
              </a:rPr>
              <a:t>Uninstall.cmd removes everything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Your password stays yours</a:t>
            </a:r>
            <a:endParaRPr lang="en-US" sz="2800" dirty="0"/>
          </a:p>
        </p:txBody>
      </p:sp>
      <p:sp>
        <p:nvSpPr>
          <p:cNvPr id="3" name="Shield card"/>
          <p:cNvSpPr/>
          <p:nvPr/>
        </p:nvSpPr>
        <p:spPr>
          <a:xfrm>
            <a:off x="457200" y="1188720"/>
            <a:ext cx="2926080" cy="3246120"/>
          </a:xfrm>
          <a:prstGeom prst="roundRect">
            <a:avLst>
              <a:gd name="adj" fmla="val 4688"/>
            </a:avLst>
          </a:prstGeom>
          <a:solidFill>
            <a:srgbClr val="0B1B33"/>
          </a:solidFill>
          <a:ln w="12700">
            <a:solidFill>
              <a:srgbClr val="0B1B33"/>
            </a:solidFill>
            <a:prstDash val="solid"/>
          </a:ln>
        </p:spPr>
      </p:sp>
      <p:pic>
        <p:nvPicPr>
          <p:cNvPr id="4" name="Shield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4630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8346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 accounts. No servers. Nothing leaves your device except the sign-in itself.</a:t>
            </a:r>
            <a:endParaRPr lang="en-US" sz="1500" dirty="0"/>
          </a:p>
        </p:txBody>
      </p:sp>
      <p:sp>
        <p:nvSpPr>
          <p:cNvPr id="6" name="Stored encrypted circle"/>
          <p:cNvSpPr/>
          <p:nvPr/>
        </p:nvSpPr>
        <p:spPr>
          <a:xfrm>
            <a:off x="3703320" y="1234440"/>
            <a:ext cx="502920" cy="50292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7" name="Stored encrypted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021" y="1355141"/>
            <a:ext cx="261518" cy="26151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89120" y="1188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Stored encrypted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389120" y="1481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iPhone Keychain, Android Keystore, and Windows encryption tied to your account.</a:t>
            </a:r>
            <a:endParaRPr lang="en-US" sz="1200" dirty="0"/>
          </a:p>
        </p:txBody>
      </p:sp>
      <p:sp>
        <p:nvSpPr>
          <p:cNvPr id="10" name="Only sent to the school's login page circle"/>
          <p:cNvSpPr/>
          <p:nvPr/>
        </p:nvSpPr>
        <p:spPr>
          <a:xfrm>
            <a:off x="3703320" y="2057400"/>
            <a:ext cx="502920" cy="50292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11" name="Only sent to the school's login pag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021" y="2178101"/>
            <a:ext cx="261518" cy="26151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89120" y="2011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Only sent to the school's login page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389120" y="23042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Automatic sign-ins only go to a private campus address or the page you used before.</a:t>
            </a:r>
            <a:endParaRPr lang="en-US" sz="1200" dirty="0"/>
          </a:p>
        </p:txBody>
      </p:sp>
      <p:sp>
        <p:nvSpPr>
          <p:cNvPr id="14" name="App lock circle"/>
          <p:cNvSpPr/>
          <p:nvPr/>
        </p:nvSpPr>
        <p:spPr>
          <a:xfrm>
            <a:off x="3703320" y="2880360"/>
            <a:ext cx="502920" cy="50292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15" name="App lo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021" y="3001061"/>
            <a:ext cx="261518" cy="26151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389120" y="2834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 lock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4389120" y="31272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Face ID, Touch ID or your phone's lock before Settings opens.</a:t>
            </a:r>
            <a:endParaRPr lang="en-US" sz="1200" dirty="0"/>
          </a:p>
        </p:txBody>
      </p:sp>
      <p:sp>
        <p:nvSpPr>
          <p:cNvPr id="18" name="Sharing leaves the password out circle"/>
          <p:cNvSpPr/>
          <p:nvPr/>
        </p:nvSpPr>
        <p:spPr>
          <a:xfrm>
            <a:off x="3703320" y="3703320"/>
            <a:ext cx="502920" cy="502920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pic>
        <p:nvPicPr>
          <p:cNvPr id="19" name="Sharing leaves the password ou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4021" y="3824021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389120" y="3657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Sharing leaves the password out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4389120" y="39502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84A"/>
                </a:solidFill>
              </a:rPr>
              <a:t>Classmates get the setup, never your ID or password.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Tested the way students use it</a:t>
            </a:r>
            <a:endParaRPr lang="en-US" sz="2800" dirty="0"/>
          </a:p>
        </p:txBody>
      </p:sp>
      <p:sp>
        <p:nvSpPr>
          <p:cNvPr id="3" name="Stat 1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</a:rPr>
              <a:t>login page styles, each at its own address, like different campus blocks</a:t>
            </a:r>
            <a:endParaRPr lang="en-US" sz="1300" dirty="0"/>
          </a:p>
        </p:txBody>
      </p:sp>
      <p:sp>
        <p:nvSpPr>
          <p:cNvPr id="6" name="Stat 2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57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</a:rPr>
              <a:t>platforms tested on every change: iPhone, Android and Windows</a:t>
            </a:r>
            <a:endParaRPr lang="en-US" sz="1300" dirty="0"/>
          </a:p>
        </p:txBody>
      </p:sp>
      <p:sp>
        <p:nvSpPr>
          <p:cNvPr id="9" name="Stat 3"/>
          <p:cNvSpPr/>
          <p:nvPr/>
        </p:nvSpPr>
        <p:spPr>
          <a:xfrm>
            <a:off x="457200" y="3017520"/>
            <a:ext cx="2615184" cy="1645920"/>
          </a:xfrm>
          <a:prstGeom prst="roundRect">
            <a:avLst>
              <a:gd name="adj" fmla="val 8333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862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</a:rPr>
              <a:t>steps passed on iPhone: install, type the ID, use the ? guide, tap, online, sign out</a:t>
            </a:r>
            <a:endParaRPr lang="en-US" sz="1300" dirty="0"/>
          </a:p>
        </p:txBody>
      </p:sp>
      <p:sp>
        <p:nvSpPr>
          <p:cNvPr id="12" name="Stat 4"/>
          <p:cNvSpPr/>
          <p:nvPr/>
        </p:nvSpPr>
        <p:spPr>
          <a:xfrm>
            <a:off x="3264408" y="3017520"/>
            <a:ext cx="2615184" cy="1645920"/>
          </a:xfrm>
          <a:prstGeom prst="roundRect">
            <a:avLst>
              <a:gd name="adj" fmla="val 8333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93008" y="31546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38862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</a:rPr>
              <a:t>steps passed on Android, the same journey by tapping the screen</a:t>
            </a:r>
            <a:endParaRPr lang="en-US" sz="1300" dirty="0"/>
          </a:p>
        </p:txBody>
      </p:sp>
      <p:sp>
        <p:nvSpPr>
          <p:cNvPr id="15" name="Stat 5"/>
          <p:cNvSpPr/>
          <p:nvPr/>
        </p:nvSpPr>
        <p:spPr>
          <a:xfrm>
            <a:off x="6071616" y="3017520"/>
            <a:ext cx="2615184" cy="1645920"/>
          </a:xfrm>
          <a:prstGeom prst="roundRect">
            <a:avLst>
              <a:gd name="adj" fmla="val 8333"/>
            </a:avLst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0216" y="31546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9/9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300216" y="388620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</a:rPr>
              <a:t>steps passed on Windows: install, sign in, run by itself, uninstall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E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GET STARTED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Ready in one tap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</a:rPr>
              <a:t>1. Download it from the Latest build release on GitHub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</a:rPr>
              <a:t>2. Enter your student ID and password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3E3"/>
                </a:solidFill>
              </a:rPr>
              <a:t>3. Join utarwifi and tap the circle</a:t>
            </a:r>
            <a:endParaRPr lang="en-US" sz="18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github.com/Jy2005ov0/WifiConnect</a:t>
            </a:r>
            <a:endParaRPr lang="en-US" sz="1400" dirty="0"/>
          </a:p>
        </p:txBody>
      </p:sp>
      <p:sp>
        <p:nvSpPr>
          <p:cNvPr id="6" name="Android connected frame"/>
          <p:cNvSpPr/>
          <p:nvPr/>
        </p:nvSpPr>
        <p:spPr>
          <a:xfrm>
            <a:off x="6345936" y="493776"/>
            <a:ext cx="1920240" cy="4133088"/>
          </a:xfrm>
          <a:prstGeom prst="roundRect">
            <a:avLst>
              <a:gd name="adj" fmla="val 10476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7" name="Android connected" descr="Android connect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48640"/>
            <a:ext cx="1810512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Fi Connect">
  <a:themeElements>
    <a:clrScheme name="WiFi Connect">
      <a:dk1>
        <a:srgbClr val="1C1C1E"/>
      </a:dk1>
      <a:lt1>
        <a:srgbClr val="FFFFFF"/>
      </a:lt1>
      <a:dk2>
        <a:srgbClr val="0B1B33"/>
      </a:dk2>
      <a:lt2>
        <a:srgbClr val="F2F2F7"/>
      </a:lt2>
      <a:accent1>
        <a:srgbClr val="007AFF"/>
      </a:accent1>
      <a:accent2>
        <a:srgbClr val="34C759"/>
      </a:accent2>
      <a:accent3>
        <a:srgbClr val="FF9500"/>
      </a:accent3>
      <a:accent4>
        <a:srgbClr val="5856D6"/>
      </a:accent4>
      <a:accent5>
        <a:srgbClr val="FF3B30"/>
      </a:accent5>
      <a:accent6>
        <a:srgbClr val="8E8E93"/>
      </a:accent6>
      <a:hlink>
        <a:srgbClr val="007AFF"/>
      </a:hlink>
      <a:folHlink>
        <a:srgbClr val="5856D6"/>
      </a:folHlink>
    </a:clrScheme>
    <a:fontScheme name="WiFi Connec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Connect</dc:title>
  <dc:subject>PptxGenJS Presentation</dc:subject>
  <dc:creator>WiFi Connect</dc:creator>
  <cp:lastModifiedBy>WiFi Connect</cp:lastModifiedBy>
  <cp:revision>1</cp:revision>
  <dcterms:created xsi:type="dcterms:W3CDTF">2026-10-09T02:52:58Z</dcterms:created>
  <dcterms:modified xsi:type="dcterms:W3CDTF">2026-10-09T02:52:58Z</dcterms:modified>
</cp:coreProperties>
</file>